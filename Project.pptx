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Dynapuff Condensed" charset="1" panose="00000000000000000000"/>
      <p:regular r:id="rId21"/>
    </p:embeddedFont>
    <p:embeddedFont>
      <p:font typeface="Dynapuff SemiCondensed"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664261" y="6677503"/>
            <a:ext cx="6103108" cy="4114800"/>
          </a:xfrm>
          <a:custGeom>
            <a:avLst/>
            <a:gdLst/>
            <a:ahLst/>
            <a:cxnLst/>
            <a:rect r="r" b="b" t="t" l="l"/>
            <a:pathLst>
              <a:path h="4114800" w="6103108">
                <a:moveTo>
                  <a:pt x="0" y="0"/>
                </a:moveTo>
                <a:lnTo>
                  <a:pt x="6103109" y="0"/>
                </a:lnTo>
                <a:lnTo>
                  <a:pt x="610310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184892" y="-10287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013428" y="7008096"/>
            <a:ext cx="8261144" cy="660847"/>
          </a:xfrm>
          <a:prstGeom prst="rect">
            <a:avLst/>
          </a:prstGeom>
        </p:spPr>
        <p:txBody>
          <a:bodyPr anchor="t" rtlCol="false" tIns="0" lIns="0" bIns="0" rIns="0">
            <a:spAutoFit/>
          </a:bodyPr>
          <a:lstStyle/>
          <a:p>
            <a:pPr algn="ctr" marL="0" indent="0" lvl="0">
              <a:lnSpc>
                <a:spcPts val="5482"/>
              </a:lnSpc>
              <a:spcBef>
                <a:spcPct val="0"/>
              </a:spcBef>
            </a:pPr>
            <a:r>
              <a:rPr lang="en-US" sz="3654" spc="109">
                <a:solidFill>
                  <a:srgbClr val="3F3E3A"/>
                </a:solidFill>
                <a:latin typeface="Dynapuff Condensed"/>
                <a:ea typeface="Dynapuff Condensed"/>
                <a:cs typeface="Dynapuff Condensed"/>
                <a:sym typeface="Dynapuff Condensed"/>
              </a:rPr>
              <a:t>Presented by: Chinasa Nwosu </a:t>
            </a:r>
          </a:p>
        </p:txBody>
      </p:sp>
      <p:sp>
        <p:nvSpPr>
          <p:cNvPr name="Freeform 5" id="5"/>
          <p:cNvSpPr/>
          <p:nvPr/>
        </p:nvSpPr>
        <p:spPr>
          <a:xfrm flipH="false" flipV="false" rot="0">
            <a:off x="14254823" y="-4550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72605" y="6043612"/>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387294" y="4838010"/>
            <a:ext cx="14639924" cy="2115929"/>
          </a:xfrm>
          <a:prstGeom prst="rect">
            <a:avLst/>
          </a:prstGeom>
        </p:spPr>
        <p:txBody>
          <a:bodyPr anchor="t" rtlCol="false" tIns="0" lIns="0" bIns="0" rIns="0">
            <a:spAutoFit/>
          </a:bodyPr>
          <a:lstStyle/>
          <a:p>
            <a:pPr algn="ctr" marL="0" indent="0" lvl="0">
              <a:lnSpc>
                <a:spcPts val="16618"/>
              </a:lnSpc>
              <a:spcBef>
                <a:spcPct val="0"/>
              </a:spcBef>
            </a:pPr>
            <a:r>
              <a:rPr lang="en-US" sz="13848" spc="138">
                <a:solidFill>
                  <a:srgbClr val="000000"/>
                </a:solidFill>
                <a:latin typeface="Dynapuff Condensed"/>
                <a:ea typeface="Dynapuff Condensed"/>
                <a:cs typeface="Dynapuff Condensed"/>
                <a:sym typeface="Dynapuff Condensed"/>
              </a:rPr>
              <a:t>UBUNTU</a:t>
            </a:r>
          </a:p>
        </p:txBody>
      </p:sp>
      <p:sp>
        <p:nvSpPr>
          <p:cNvPr name="TextBox 8" id="8"/>
          <p:cNvSpPr txBox="true"/>
          <p:nvPr/>
        </p:nvSpPr>
        <p:spPr>
          <a:xfrm rot="0">
            <a:off x="2717249" y="2142435"/>
            <a:ext cx="12519197" cy="2543175"/>
          </a:xfrm>
          <a:prstGeom prst="rect">
            <a:avLst/>
          </a:prstGeom>
        </p:spPr>
        <p:txBody>
          <a:bodyPr anchor="t" rtlCol="false" tIns="0" lIns="0" bIns="0" rIns="0">
            <a:spAutoFit/>
          </a:bodyPr>
          <a:lstStyle/>
          <a:p>
            <a:pPr algn="ctr" marL="0" indent="0" lvl="0">
              <a:lnSpc>
                <a:spcPts val="20009"/>
              </a:lnSpc>
              <a:spcBef>
                <a:spcPct val="0"/>
              </a:spcBef>
            </a:pPr>
            <a:r>
              <a:rPr lang="en-US" sz="16674" spc="500">
                <a:solidFill>
                  <a:srgbClr val="000000"/>
                </a:solidFill>
                <a:latin typeface="Dynapuff Condensed"/>
                <a:ea typeface="Dynapuff Condensed"/>
                <a:cs typeface="Dynapuff Condensed"/>
                <a:sym typeface="Dynapuff Condensed"/>
              </a:rPr>
              <a:t>PRINCIPLES OF</a:t>
            </a:r>
          </a:p>
        </p:txBody>
      </p:sp>
      <p:sp>
        <p:nvSpPr>
          <p:cNvPr name="Freeform 9" id="9"/>
          <p:cNvSpPr/>
          <p:nvPr/>
        </p:nvSpPr>
        <p:spPr>
          <a:xfrm flipH="false" flipV="true" rot="0">
            <a:off x="0" y="0"/>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0">
            <a:off x="14418111" y="6172200"/>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true" flipV="true" rot="0">
            <a:off x="12337292" y="-8763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088210"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2839555" y="3888850"/>
            <a:ext cx="12608891" cy="4969400"/>
          </a:xfrm>
          <a:prstGeom prst="rect">
            <a:avLst/>
          </a:prstGeom>
        </p:spPr>
        <p:txBody>
          <a:bodyPr anchor="t" rtlCol="false" tIns="0" lIns="0" bIns="0" rIns="0">
            <a:spAutoFit/>
          </a:bodyPr>
          <a:lstStyle/>
          <a:p>
            <a:pPr algn="just">
              <a:lnSpc>
                <a:spcPts val="3220"/>
              </a:lnSpc>
            </a:pPr>
            <a:r>
              <a:rPr lang="en-US" sz="2300">
                <a:solidFill>
                  <a:srgbClr val="000000"/>
                </a:solidFill>
                <a:latin typeface="Dynapuff Condensed"/>
                <a:ea typeface="Dynapuff Condensed"/>
                <a:cs typeface="Dynapuff Condensed"/>
                <a:sym typeface="Dynapuff Condensed"/>
              </a:rPr>
              <a:t>Q1 What does ubuntu mean to you?</a:t>
            </a:r>
          </a:p>
          <a:p>
            <a:pPr algn="just">
              <a:lnSpc>
                <a:spcPts val="3220"/>
              </a:lnSpc>
            </a:pPr>
            <a:r>
              <a:rPr lang="en-US" sz="2300">
                <a:solidFill>
                  <a:srgbClr val="000000"/>
                </a:solidFill>
                <a:latin typeface="Dynapuff Condensed"/>
                <a:ea typeface="Dynapuff Condensed"/>
                <a:cs typeface="Dynapuff Condensed"/>
                <a:sym typeface="Dynapuff Condensed"/>
              </a:rPr>
              <a:t>Its about respecting others of all backgrounds and giving them the dignity and respect that they deserve</a:t>
            </a:r>
          </a:p>
          <a:p>
            <a:pPr algn="just">
              <a:lnSpc>
                <a:spcPts val="3220"/>
              </a:lnSpc>
            </a:pPr>
            <a:r>
              <a:rPr lang="en-US" sz="2300">
                <a:solidFill>
                  <a:srgbClr val="000000"/>
                </a:solidFill>
                <a:latin typeface="Dynapuff Condensed"/>
                <a:ea typeface="Dynapuff Condensed"/>
                <a:cs typeface="Dynapuff Condensed"/>
                <a:sym typeface="Dynapuff Condensed"/>
              </a:rPr>
              <a:t>Q2 In what way is ubuntu a part of your lived reality?</a:t>
            </a:r>
          </a:p>
          <a:p>
            <a:pPr algn="just">
              <a:lnSpc>
                <a:spcPts val="3220"/>
              </a:lnSpc>
            </a:pPr>
            <a:r>
              <a:rPr lang="en-US" sz="2300">
                <a:solidFill>
                  <a:srgbClr val="000000"/>
                </a:solidFill>
                <a:latin typeface="Dynapuff Condensed"/>
                <a:ea typeface="Dynapuff Condensed"/>
                <a:cs typeface="Dynapuff Condensed"/>
                <a:sym typeface="Dynapuff Condensed"/>
              </a:rPr>
              <a:t>On every Tuesday and Thursday I organise a group of people to come to the church and prepare food for those who are less fortunate and some gifts for the younger ones</a:t>
            </a:r>
          </a:p>
          <a:p>
            <a:pPr algn="just">
              <a:lnSpc>
                <a:spcPts val="3220"/>
              </a:lnSpc>
            </a:pPr>
            <a:r>
              <a:rPr lang="en-US" sz="2300">
                <a:solidFill>
                  <a:srgbClr val="000000"/>
                </a:solidFill>
                <a:latin typeface="Dynapuff Condensed"/>
                <a:ea typeface="Dynapuff Condensed"/>
                <a:cs typeface="Dynapuff Condensed"/>
                <a:sym typeface="Dynapuff Condensed"/>
              </a:rPr>
              <a:t>Q3 Were you brought up in a community that valued the principles of Ubuntu?</a:t>
            </a:r>
          </a:p>
          <a:p>
            <a:pPr algn="just">
              <a:lnSpc>
                <a:spcPts val="3220"/>
              </a:lnSpc>
            </a:pPr>
            <a:r>
              <a:rPr lang="en-US" sz="2300">
                <a:solidFill>
                  <a:srgbClr val="000000"/>
                </a:solidFill>
                <a:latin typeface="Dynapuff Condensed"/>
                <a:ea typeface="Dynapuff Condensed"/>
                <a:cs typeface="Dynapuff Condensed"/>
                <a:sym typeface="Dynapuff Condensed"/>
              </a:rPr>
              <a:t>I was not brought up in the way I understand ubuntu now as I was quite sheltered from people of different races but my parents always taught me to be kind to others regardless of who they are.</a:t>
            </a:r>
          </a:p>
          <a:p>
            <a:pPr algn="just">
              <a:lnSpc>
                <a:spcPts val="3220"/>
              </a:lnSpc>
            </a:pPr>
            <a:r>
              <a:rPr lang="en-US" sz="2300">
                <a:solidFill>
                  <a:srgbClr val="000000"/>
                </a:solidFill>
                <a:latin typeface="Dynapuff Condensed"/>
                <a:ea typeface="Dynapuff Condensed"/>
                <a:cs typeface="Dynapuff Condensed"/>
                <a:sym typeface="Dynapuff Condensed"/>
              </a:rPr>
              <a:t>Q4 Please share a little about the community you live in and how you see it?</a:t>
            </a:r>
          </a:p>
          <a:p>
            <a:pPr algn="just">
              <a:lnSpc>
                <a:spcPts val="3220"/>
              </a:lnSpc>
            </a:pPr>
            <a:r>
              <a:rPr lang="en-US" sz="2300">
                <a:solidFill>
                  <a:srgbClr val="000000"/>
                </a:solidFill>
                <a:latin typeface="Dynapuff Condensed"/>
                <a:ea typeface="Dynapuff Condensed"/>
                <a:cs typeface="Dynapuff Condensed"/>
                <a:sym typeface="Dynapuff Condensed"/>
              </a:rPr>
              <a:t>It is quite diverse and there are wealthy areas and places that are not doing so well. There is a huge divide between the two communities.</a:t>
            </a:r>
          </a:p>
          <a:p>
            <a:pPr algn="just">
              <a:lnSpc>
                <a:spcPts val="2322"/>
              </a:lnSpc>
            </a:pPr>
          </a:p>
          <a:p>
            <a:pPr algn="just">
              <a:lnSpc>
                <a:spcPts val="2322"/>
              </a:lnSpc>
            </a:pPr>
          </a:p>
        </p:txBody>
      </p:sp>
      <p:sp>
        <p:nvSpPr>
          <p:cNvPr name="TextBox 8" id="8"/>
          <p:cNvSpPr txBox="true"/>
          <p:nvPr/>
        </p:nvSpPr>
        <p:spPr>
          <a:xfrm rot="0">
            <a:off x="3597962" y="1664413"/>
            <a:ext cx="11790884" cy="2161457"/>
          </a:xfrm>
          <a:prstGeom prst="rect">
            <a:avLst/>
          </a:prstGeom>
        </p:spPr>
        <p:txBody>
          <a:bodyPr anchor="t" rtlCol="false" tIns="0" lIns="0" bIns="0" rIns="0">
            <a:spAutoFit/>
          </a:bodyPr>
          <a:lstStyle/>
          <a:p>
            <a:pPr algn="ctr">
              <a:lnSpc>
                <a:spcPts val="5521"/>
              </a:lnSpc>
            </a:pPr>
            <a:r>
              <a:rPr lang="en-US" sz="6346" spc="63">
                <a:solidFill>
                  <a:srgbClr val="000000"/>
                </a:solidFill>
                <a:latin typeface="Dynapuff Condensed"/>
                <a:ea typeface="Dynapuff Condensed"/>
                <a:cs typeface="Dynapuff Condensed"/>
                <a:sym typeface="Dynapuff Condensed"/>
              </a:rPr>
              <a:t>INTERVIEW 1: AUNTY SHARON  (ORGANISER OF LOCAL CHURCH CHARITY EVENTS)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88210"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4924696" y="2467693"/>
            <a:ext cx="8438608" cy="770807"/>
          </a:xfrm>
          <a:prstGeom prst="rect">
            <a:avLst/>
          </a:prstGeom>
        </p:spPr>
        <p:txBody>
          <a:bodyPr anchor="t" rtlCol="false" tIns="0" lIns="0" bIns="0" rIns="0">
            <a:spAutoFit/>
          </a:bodyPr>
          <a:lstStyle/>
          <a:p>
            <a:pPr algn="ctr">
              <a:lnSpc>
                <a:spcPts val="5521"/>
              </a:lnSpc>
            </a:pPr>
            <a:r>
              <a:rPr lang="en-US" sz="6346" spc="63">
                <a:solidFill>
                  <a:srgbClr val="000000"/>
                </a:solidFill>
                <a:latin typeface="Dynapuff Condensed"/>
                <a:ea typeface="Dynapuff Condensed"/>
                <a:cs typeface="Dynapuff Condensed"/>
                <a:sym typeface="Dynapuff Condensed"/>
              </a:rPr>
              <a:t>SUMMARY</a:t>
            </a:r>
          </a:p>
        </p:txBody>
      </p:sp>
      <p:sp>
        <p:nvSpPr>
          <p:cNvPr name="TextBox 6" id="6"/>
          <p:cNvSpPr txBox="true"/>
          <p:nvPr/>
        </p:nvSpPr>
        <p:spPr>
          <a:xfrm rot="0">
            <a:off x="2836702" y="2993775"/>
            <a:ext cx="12614597" cy="6554456"/>
          </a:xfrm>
          <a:prstGeom prst="rect">
            <a:avLst/>
          </a:prstGeom>
        </p:spPr>
        <p:txBody>
          <a:bodyPr anchor="t" rtlCol="false" tIns="0" lIns="0" bIns="0" rIns="0">
            <a:spAutoFit/>
          </a:bodyPr>
          <a:lstStyle/>
          <a:p>
            <a:pPr algn="just">
              <a:lnSpc>
                <a:spcPts val="4722"/>
              </a:lnSpc>
            </a:pPr>
          </a:p>
          <a:p>
            <a:pPr algn="just" marL="728302" indent="-364151" lvl="1">
              <a:lnSpc>
                <a:spcPts val="4722"/>
              </a:lnSpc>
              <a:buFont typeface="Arial"/>
              <a:buChar char="•"/>
            </a:pPr>
            <a:r>
              <a:rPr lang="en-US" sz="3373">
                <a:solidFill>
                  <a:srgbClr val="000000"/>
                </a:solidFill>
                <a:latin typeface="Dynapuff Condensed"/>
                <a:ea typeface="Dynapuff Condensed"/>
                <a:cs typeface="Dynapuff Condensed"/>
                <a:sym typeface="Dynapuff Condensed"/>
              </a:rPr>
              <a:t>Meaning of Ubuntu: Showing respect and dignity to all people, regardless of background.</a:t>
            </a:r>
          </a:p>
          <a:p>
            <a:pPr algn="just" marL="728302" indent="-364151" lvl="1">
              <a:lnSpc>
                <a:spcPts val="4722"/>
              </a:lnSpc>
              <a:buFont typeface="Arial"/>
              <a:buChar char="•"/>
            </a:pPr>
            <a:r>
              <a:rPr lang="en-US" sz="3373">
                <a:solidFill>
                  <a:srgbClr val="000000"/>
                </a:solidFill>
                <a:latin typeface="Dynapuff Condensed"/>
                <a:ea typeface="Dynapuff Condensed"/>
                <a:cs typeface="Dynapuff Condensed"/>
                <a:sym typeface="Dynapuff Condensed"/>
              </a:rPr>
              <a:t>Lived Reality: Practices Ubuntu by organizing church food and gift drives for the less fortunate.</a:t>
            </a:r>
          </a:p>
          <a:p>
            <a:pPr algn="just" marL="728302" indent="-364151" lvl="1">
              <a:lnSpc>
                <a:spcPts val="4722"/>
              </a:lnSpc>
              <a:buFont typeface="Arial"/>
              <a:buChar char="•"/>
            </a:pPr>
            <a:r>
              <a:rPr lang="en-US" sz="3373">
                <a:solidFill>
                  <a:srgbClr val="000000"/>
                </a:solidFill>
                <a:latin typeface="Dynapuff Condensed"/>
                <a:ea typeface="Dynapuff Condensed"/>
                <a:cs typeface="Dynapuff Condensed"/>
                <a:sym typeface="Dynapuff Condensed"/>
              </a:rPr>
              <a:t>Upbringing: Raised to be kind to others but only later understood Ubuntu more deeply due to growing up in a racially sheltered environment.</a:t>
            </a:r>
          </a:p>
          <a:p>
            <a:pPr algn="just" marL="728302" indent="-364151" lvl="1">
              <a:lnSpc>
                <a:spcPts val="4722"/>
              </a:lnSpc>
              <a:buFont typeface="Arial"/>
              <a:buChar char="•"/>
            </a:pPr>
            <a:r>
              <a:rPr lang="en-US" sz="3373">
                <a:solidFill>
                  <a:srgbClr val="000000"/>
                </a:solidFill>
                <a:latin typeface="Dynapuff Condensed"/>
                <a:ea typeface="Dynapuff Condensed"/>
                <a:cs typeface="Dynapuff Condensed"/>
                <a:sym typeface="Dynapuff Condensed"/>
              </a:rPr>
              <a:t>Community View: Lives in a diverse area with a noticeable divide between wealthy and struggling communities.</a:t>
            </a:r>
          </a:p>
          <a:p>
            <a:pPr algn="just">
              <a:lnSpc>
                <a:spcPts val="4722"/>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true" flipV="true" rot="0">
            <a:off x="12337292" y="-8763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088210"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951537" y="1581785"/>
            <a:ext cx="9263789" cy="1656715"/>
          </a:xfrm>
          <a:prstGeom prst="rect">
            <a:avLst/>
          </a:prstGeom>
        </p:spPr>
        <p:txBody>
          <a:bodyPr anchor="t" rtlCol="false" tIns="0" lIns="0" bIns="0" rIns="0">
            <a:spAutoFit/>
          </a:bodyPr>
          <a:lstStyle/>
          <a:p>
            <a:pPr algn="ctr" marL="0" indent="0" lvl="0">
              <a:lnSpc>
                <a:spcPts val="6305"/>
              </a:lnSpc>
              <a:spcBef>
                <a:spcPct val="0"/>
              </a:spcBef>
            </a:pPr>
            <a:r>
              <a:rPr lang="en-US" sz="6500">
                <a:solidFill>
                  <a:srgbClr val="000000"/>
                </a:solidFill>
                <a:latin typeface="Dynapuff Condensed"/>
                <a:ea typeface="Dynapuff Condensed"/>
                <a:cs typeface="Dynapuff Condensed"/>
                <a:sym typeface="Dynapuff Condensed"/>
              </a:rPr>
              <a:t>INTERVIEW 2: AUDREY ROSE (GRANDMOTHER OF A FRIEND)</a:t>
            </a:r>
          </a:p>
        </p:txBody>
      </p:sp>
      <p:sp>
        <p:nvSpPr>
          <p:cNvPr name="TextBox 8" id="8"/>
          <p:cNvSpPr txBox="true"/>
          <p:nvPr/>
        </p:nvSpPr>
        <p:spPr>
          <a:xfrm rot="0">
            <a:off x="2779955" y="3209925"/>
            <a:ext cx="12608891" cy="5324466"/>
          </a:xfrm>
          <a:prstGeom prst="rect">
            <a:avLst/>
          </a:prstGeom>
        </p:spPr>
        <p:txBody>
          <a:bodyPr anchor="t" rtlCol="false" tIns="0" lIns="0" bIns="0" rIns="0">
            <a:spAutoFit/>
          </a:bodyPr>
          <a:lstStyle/>
          <a:p>
            <a:pPr algn="just">
              <a:lnSpc>
                <a:spcPts val="3226"/>
              </a:lnSpc>
            </a:pPr>
            <a:r>
              <a:rPr lang="en-US" sz="2500">
                <a:solidFill>
                  <a:srgbClr val="000000"/>
                </a:solidFill>
                <a:latin typeface="Dynapuff SemiCondensed"/>
                <a:ea typeface="Dynapuff SemiCondensed"/>
                <a:cs typeface="Dynapuff SemiCondensed"/>
                <a:sym typeface="Dynapuff SemiCondensed"/>
              </a:rPr>
              <a:t>Q1 What does ubuntu mean to you?</a:t>
            </a:r>
          </a:p>
          <a:p>
            <a:pPr algn="just">
              <a:lnSpc>
                <a:spcPts val="3226"/>
              </a:lnSpc>
            </a:pPr>
            <a:r>
              <a:rPr lang="en-US" sz="2500">
                <a:solidFill>
                  <a:srgbClr val="000000"/>
                </a:solidFill>
                <a:latin typeface="Dynapuff SemiCondensed"/>
                <a:ea typeface="Dynapuff SemiCondensed"/>
                <a:cs typeface="Dynapuff SemiCondensed"/>
                <a:sym typeface="Dynapuff SemiCondensed"/>
              </a:rPr>
              <a:t>It is about the shared humanity and progress that brought us together at the tail end of apartheid and is what keeps us together</a:t>
            </a:r>
          </a:p>
          <a:p>
            <a:pPr algn="just">
              <a:lnSpc>
                <a:spcPts val="3226"/>
              </a:lnSpc>
            </a:pPr>
            <a:r>
              <a:rPr lang="en-US" sz="2500">
                <a:solidFill>
                  <a:srgbClr val="000000"/>
                </a:solidFill>
                <a:latin typeface="Dynapuff SemiCondensed"/>
                <a:ea typeface="Dynapuff SemiCondensed"/>
                <a:cs typeface="Dynapuff SemiCondensed"/>
                <a:sym typeface="Dynapuff SemiCondensed"/>
              </a:rPr>
              <a:t>Q2 In what way is ubuntu a part of your lived reality?</a:t>
            </a:r>
          </a:p>
          <a:p>
            <a:pPr algn="just">
              <a:lnSpc>
                <a:spcPts val="3226"/>
              </a:lnSpc>
            </a:pPr>
            <a:r>
              <a:rPr lang="en-US" sz="2500">
                <a:solidFill>
                  <a:srgbClr val="000000"/>
                </a:solidFill>
                <a:latin typeface="Dynapuff SemiCondensed"/>
                <a:ea typeface="Dynapuff SemiCondensed"/>
                <a:cs typeface="Dynapuff SemiCondensed"/>
                <a:sym typeface="Dynapuff SemiCondensed"/>
              </a:rPr>
              <a:t>In my 20s I was a human rights activist and fought for the equal rights of everyone and that just because somebody is different from us is no reason to be treating others unkindly</a:t>
            </a:r>
          </a:p>
          <a:p>
            <a:pPr algn="just">
              <a:lnSpc>
                <a:spcPts val="3226"/>
              </a:lnSpc>
            </a:pPr>
            <a:r>
              <a:rPr lang="en-US" sz="2500">
                <a:solidFill>
                  <a:srgbClr val="000000"/>
                </a:solidFill>
                <a:latin typeface="Dynapuff SemiCondensed"/>
                <a:ea typeface="Dynapuff SemiCondensed"/>
                <a:cs typeface="Dynapuff SemiCondensed"/>
                <a:sym typeface="Dynapuff SemiCondensed"/>
              </a:rPr>
              <a:t>Q3 Were you brought up in a community that valued the principles of Ubuntu?</a:t>
            </a:r>
          </a:p>
          <a:p>
            <a:pPr algn="just">
              <a:lnSpc>
                <a:spcPts val="3226"/>
              </a:lnSpc>
            </a:pPr>
            <a:r>
              <a:rPr lang="en-US" sz="2500">
                <a:solidFill>
                  <a:srgbClr val="000000"/>
                </a:solidFill>
                <a:latin typeface="Dynapuff SemiCondensed"/>
                <a:ea typeface="Dynapuff SemiCondensed"/>
                <a:cs typeface="Dynapuff SemiCondensed"/>
                <a:sym typeface="Dynapuff SemiCondensed"/>
              </a:rPr>
              <a:t>Yes, because I was raised in poverty we had to share everything and that build strong bonds with members of the community</a:t>
            </a:r>
          </a:p>
          <a:p>
            <a:pPr algn="just">
              <a:lnSpc>
                <a:spcPts val="3226"/>
              </a:lnSpc>
            </a:pPr>
            <a:r>
              <a:rPr lang="en-US" sz="2500">
                <a:solidFill>
                  <a:srgbClr val="000000"/>
                </a:solidFill>
                <a:latin typeface="Dynapuff SemiCondensed"/>
                <a:ea typeface="Dynapuff SemiCondensed"/>
                <a:cs typeface="Dynapuff SemiCondensed"/>
                <a:sym typeface="Dynapuff SemiCondensed"/>
              </a:rPr>
              <a:t>Q4 Please share a little about the community you live in and how you see it?</a:t>
            </a:r>
          </a:p>
          <a:p>
            <a:pPr algn="just">
              <a:lnSpc>
                <a:spcPts val="3226"/>
              </a:lnSpc>
            </a:pPr>
            <a:r>
              <a:rPr lang="en-US" sz="2500">
                <a:solidFill>
                  <a:srgbClr val="000000"/>
                </a:solidFill>
                <a:latin typeface="Dynapuff SemiCondensed"/>
                <a:ea typeface="Dynapuff SemiCondensed"/>
                <a:cs typeface="Dynapuff SemiCondensed"/>
                <a:sym typeface="Dynapuff SemiCondensed"/>
              </a:rPr>
              <a:t>Everyone has a similar living situation to one another but when issues arise within the community everyone comes together to come up with a solution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2224819"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864417" y="3685174"/>
            <a:ext cx="12832384" cy="4791075"/>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Dynapuff SemiCondensed"/>
                <a:ea typeface="Dynapuff SemiCondensed"/>
                <a:cs typeface="Dynapuff SemiCondensed"/>
                <a:sym typeface="Dynapuff SemiCondensed"/>
              </a:rPr>
              <a:t>Meaning of Ubuntu: It represents shared humanity and unity the spirit that brought people together during and after apartheid.</a:t>
            </a:r>
          </a:p>
          <a:p>
            <a:pPr algn="just" marL="647700" indent="-323850" lvl="1">
              <a:lnSpc>
                <a:spcPts val="4200"/>
              </a:lnSpc>
              <a:buFont typeface="Arial"/>
              <a:buChar char="•"/>
            </a:pPr>
            <a:r>
              <a:rPr lang="en-US" sz="3000">
                <a:solidFill>
                  <a:srgbClr val="000000"/>
                </a:solidFill>
                <a:latin typeface="Dynapuff SemiCondensed"/>
                <a:ea typeface="Dynapuff SemiCondensed"/>
                <a:cs typeface="Dynapuff SemiCondensed"/>
                <a:sym typeface="Dynapuff SemiCondensed"/>
              </a:rPr>
              <a:t>The interviewee’s activism in their 20s reflected Ubuntu through fighting for human rights and kindness toward all, regardless of differences.</a:t>
            </a:r>
          </a:p>
          <a:p>
            <a:pPr algn="just" marL="647700" indent="-323850" lvl="1">
              <a:lnSpc>
                <a:spcPts val="4200"/>
              </a:lnSpc>
              <a:buFont typeface="Arial"/>
              <a:buChar char="•"/>
            </a:pPr>
            <a:r>
              <a:rPr lang="en-US" sz="3000">
                <a:solidFill>
                  <a:srgbClr val="000000"/>
                </a:solidFill>
                <a:latin typeface="Dynapuff SemiCondensed"/>
                <a:ea typeface="Dynapuff SemiCondensed"/>
                <a:cs typeface="Dynapuff SemiCondensed"/>
                <a:sym typeface="Dynapuff SemiCondensed"/>
              </a:rPr>
              <a:t>Growing up in poverty fostered a deep sense of sharing and mutual support within their community, reinforcing Ubuntu principles.</a:t>
            </a:r>
          </a:p>
          <a:p>
            <a:pPr algn="just" marL="647700" indent="-323850" lvl="1">
              <a:lnSpc>
                <a:spcPts val="4200"/>
              </a:lnSpc>
              <a:buFont typeface="Arial"/>
              <a:buChar char="•"/>
            </a:pPr>
            <a:r>
              <a:rPr lang="en-US" sz="3000">
                <a:solidFill>
                  <a:srgbClr val="000000"/>
                </a:solidFill>
                <a:latin typeface="Dynapuff SemiCondensed"/>
                <a:ea typeface="Dynapuff SemiCondensed"/>
                <a:cs typeface="Dynapuff SemiCondensed"/>
                <a:sym typeface="Dynapuff SemiCondensed"/>
              </a:rPr>
              <a:t>The community is close-knit; despite shared struggles, people unite to solve problems collectively.</a:t>
            </a:r>
          </a:p>
        </p:txBody>
      </p:sp>
      <p:sp>
        <p:nvSpPr>
          <p:cNvPr name="TextBox 4" id="4"/>
          <p:cNvSpPr txBox="true"/>
          <p:nvPr/>
        </p:nvSpPr>
        <p:spPr>
          <a:xfrm rot="0">
            <a:off x="5468828" y="2437405"/>
            <a:ext cx="7350343" cy="1000125"/>
          </a:xfrm>
          <a:prstGeom prst="rect">
            <a:avLst/>
          </a:prstGeom>
        </p:spPr>
        <p:txBody>
          <a:bodyPr anchor="t" rtlCol="false" tIns="0" lIns="0" bIns="0" rIns="0">
            <a:spAutoFit/>
          </a:bodyPr>
          <a:lstStyle/>
          <a:p>
            <a:pPr algn="ctr" marL="0" indent="0" lvl="0">
              <a:lnSpc>
                <a:spcPts val="7800"/>
              </a:lnSpc>
              <a:spcBef>
                <a:spcPct val="0"/>
              </a:spcBef>
            </a:pPr>
            <a:r>
              <a:rPr lang="en-US" sz="6500">
                <a:solidFill>
                  <a:srgbClr val="000000"/>
                </a:solidFill>
                <a:latin typeface="Dynapuff Condensed"/>
                <a:ea typeface="Dynapuff Condensed"/>
                <a:cs typeface="Dynapuff Condensed"/>
                <a:sym typeface="Dynapuff Condensed"/>
              </a:rPr>
              <a:t>SUMMARY</a:t>
            </a:r>
          </a:p>
        </p:txBody>
      </p:sp>
      <p:sp>
        <p:nvSpPr>
          <p:cNvPr name="Freeform 5" id="5"/>
          <p:cNvSpPr/>
          <p:nvPr/>
        </p:nvSpPr>
        <p:spPr>
          <a:xfrm flipH="true" flipV="true" rot="0">
            <a:off x="12337292" y="-8763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495287" y="-876300"/>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5043" y="430898"/>
            <a:ext cx="15332380" cy="9571573"/>
          </a:xfrm>
          <a:custGeom>
            <a:avLst/>
            <a:gdLst/>
            <a:ahLst/>
            <a:cxnLst/>
            <a:rect r="r" b="b" t="t" l="l"/>
            <a:pathLst>
              <a:path h="9571573" w="15332380">
                <a:moveTo>
                  <a:pt x="0" y="0"/>
                </a:moveTo>
                <a:lnTo>
                  <a:pt x="15332380" y="0"/>
                </a:lnTo>
                <a:lnTo>
                  <a:pt x="15332380" y="9571574"/>
                </a:lnTo>
                <a:lnTo>
                  <a:pt x="0" y="95715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597962" y="1945277"/>
            <a:ext cx="10809261" cy="1466132"/>
          </a:xfrm>
          <a:prstGeom prst="rect">
            <a:avLst/>
          </a:prstGeom>
        </p:spPr>
        <p:txBody>
          <a:bodyPr anchor="t" rtlCol="false" tIns="0" lIns="0" bIns="0" rIns="0">
            <a:spAutoFit/>
          </a:bodyPr>
          <a:lstStyle/>
          <a:p>
            <a:pPr algn="ctr">
              <a:lnSpc>
                <a:spcPts val="5521"/>
              </a:lnSpc>
            </a:pPr>
            <a:r>
              <a:rPr lang="en-US" sz="6346" spc="63">
                <a:solidFill>
                  <a:srgbClr val="000000"/>
                </a:solidFill>
                <a:latin typeface="Dynapuff Condensed"/>
                <a:ea typeface="Dynapuff Condensed"/>
                <a:cs typeface="Dynapuff Condensed"/>
                <a:sym typeface="Dynapuff Condensed"/>
              </a:rPr>
              <a:t>INTERVIEW 3: MOHALE PAKATI (FRIEND)</a:t>
            </a:r>
          </a:p>
        </p:txBody>
      </p:sp>
      <p:sp>
        <p:nvSpPr>
          <p:cNvPr name="TextBox 6" id="6"/>
          <p:cNvSpPr txBox="true"/>
          <p:nvPr/>
        </p:nvSpPr>
        <p:spPr>
          <a:xfrm rot="0">
            <a:off x="2502525" y="3045649"/>
            <a:ext cx="13499165" cy="5449570"/>
          </a:xfrm>
          <a:prstGeom prst="rect">
            <a:avLst/>
          </a:prstGeom>
        </p:spPr>
        <p:txBody>
          <a:bodyPr anchor="t" rtlCol="false" tIns="0" lIns="0" bIns="0" rIns="0">
            <a:spAutoFit/>
          </a:bodyPr>
          <a:lstStyle/>
          <a:p>
            <a:pPr algn="just">
              <a:lnSpc>
                <a:spcPts val="3080"/>
              </a:lnSpc>
            </a:pPr>
            <a:r>
              <a:rPr lang="en-US" sz="2200">
                <a:solidFill>
                  <a:srgbClr val="000000"/>
                </a:solidFill>
                <a:latin typeface="Dynapuff Condensed"/>
                <a:ea typeface="Dynapuff Condensed"/>
                <a:cs typeface="Dynapuff Condensed"/>
                <a:sym typeface="Dynapuff Condensed"/>
              </a:rPr>
              <a:t>Q1</a:t>
            </a:r>
          </a:p>
          <a:p>
            <a:pPr algn="just">
              <a:lnSpc>
                <a:spcPts val="3080"/>
              </a:lnSpc>
            </a:pPr>
            <a:r>
              <a:rPr lang="en-US" sz="2200">
                <a:solidFill>
                  <a:srgbClr val="000000"/>
                </a:solidFill>
                <a:latin typeface="Dynapuff Condensed"/>
                <a:ea typeface="Dynapuff Condensed"/>
                <a:cs typeface="Dynapuff Condensed"/>
                <a:sym typeface="Dynapuff Condensed"/>
              </a:rPr>
              <a:t>Ubuntu</a:t>
            </a:r>
            <a:r>
              <a:rPr lang="en-US" sz="2200">
                <a:solidFill>
                  <a:srgbClr val="000000"/>
                </a:solidFill>
                <a:latin typeface="Dynapuff Condensed"/>
                <a:ea typeface="Dynapuff Condensed"/>
                <a:cs typeface="Dynapuff Condensed"/>
                <a:sym typeface="Dynapuff Condensed"/>
              </a:rPr>
              <a:t> in my understanding is a way of life. It is what brings unity and togetherness into our societies and builds stronger bonds with the members of your community. </a:t>
            </a:r>
          </a:p>
          <a:p>
            <a:pPr algn="just">
              <a:lnSpc>
                <a:spcPts val="3080"/>
              </a:lnSpc>
            </a:pPr>
            <a:r>
              <a:rPr lang="en-US" sz="2200">
                <a:solidFill>
                  <a:srgbClr val="000000"/>
                </a:solidFill>
                <a:latin typeface="Dynapuff Condensed"/>
                <a:ea typeface="Dynapuff Condensed"/>
                <a:cs typeface="Dynapuff Condensed"/>
                <a:sym typeface="Dynapuff Condensed"/>
              </a:rPr>
              <a:t>Q2</a:t>
            </a:r>
          </a:p>
          <a:p>
            <a:pPr algn="just">
              <a:lnSpc>
                <a:spcPts val="3080"/>
              </a:lnSpc>
            </a:pPr>
            <a:r>
              <a:rPr lang="en-US" sz="2200">
                <a:solidFill>
                  <a:srgbClr val="000000"/>
                </a:solidFill>
                <a:latin typeface="Dynapuff Condensed"/>
                <a:ea typeface="Dynapuff Condensed"/>
                <a:cs typeface="Dynapuff Condensed"/>
                <a:sym typeface="Dynapuff Condensed"/>
              </a:rPr>
              <a:t>I ensure that when someone comes to me for help I do everything within my capabilities to fulfil their needs without thinking about how that person should pay me back one day. I ensure that when I do anything by myself or with others I do it honestly and wholeheartedly to make for a stronger bond to be able to call those around me family</a:t>
            </a:r>
          </a:p>
          <a:p>
            <a:pPr algn="just">
              <a:lnSpc>
                <a:spcPts val="3080"/>
              </a:lnSpc>
            </a:pPr>
            <a:r>
              <a:rPr lang="en-US" sz="2200">
                <a:solidFill>
                  <a:srgbClr val="000000"/>
                </a:solidFill>
                <a:latin typeface="Dynapuff Condensed"/>
                <a:ea typeface="Dynapuff Condensed"/>
                <a:cs typeface="Dynapuff Condensed"/>
                <a:sym typeface="Dynapuff Condensed"/>
              </a:rPr>
              <a:t>Q3</a:t>
            </a:r>
          </a:p>
          <a:p>
            <a:pPr algn="just">
              <a:lnSpc>
                <a:spcPts val="3080"/>
              </a:lnSpc>
            </a:pPr>
            <a:r>
              <a:rPr lang="en-US" sz="2200">
                <a:solidFill>
                  <a:srgbClr val="000000"/>
                </a:solidFill>
                <a:latin typeface="Dynapuff Condensed"/>
                <a:ea typeface="Dynapuff Condensed"/>
                <a:cs typeface="Dynapuff Condensed"/>
                <a:sym typeface="Dynapuff Condensed"/>
              </a:rPr>
              <a:t>Yes. The village I grew up in had Ubuntu values and principles left right and centre. It would have been strange if you did not experience or see the presence of Ubuntu. </a:t>
            </a:r>
          </a:p>
          <a:p>
            <a:pPr algn="just">
              <a:lnSpc>
                <a:spcPts val="3080"/>
              </a:lnSpc>
            </a:pPr>
            <a:r>
              <a:rPr lang="en-US" sz="2200">
                <a:solidFill>
                  <a:srgbClr val="000000"/>
                </a:solidFill>
                <a:latin typeface="Dynapuff Condensed"/>
                <a:ea typeface="Dynapuff Condensed"/>
                <a:cs typeface="Dynapuff Condensed"/>
                <a:sym typeface="Dynapuff Condensed"/>
              </a:rPr>
              <a:t>Q4</a:t>
            </a:r>
          </a:p>
          <a:p>
            <a:pPr algn="just">
              <a:lnSpc>
                <a:spcPts val="3080"/>
              </a:lnSpc>
            </a:pPr>
            <a:r>
              <a:rPr lang="en-US" sz="2200">
                <a:solidFill>
                  <a:srgbClr val="000000"/>
                </a:solidFill>
                <a:latin typeface="Dynapuff Condensed"/>
                <a:ea typeface="Dynapuff Condensed"/>
                <a:cs typeface="Dynapuff Condensed"/>
                <a:sym typeface="Dynapuff Condensed"/>
              </a:rPr>
              <a:t>The community I live in is not bad at all in terms of issues, but the only major problem I see is the absence of togetherness and family. People in my community may know each other by names or surnames but it’s extremely rare to see two neighbours having a casual conversation while bumping into each other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2224819"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864417" y="4218574"/>
            <a:ext cx="12832384" cy="3724275"/>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Dynapuff SemiCondensed"/>
                <a:ea typeface="Dynapuff SemiCondensed"/>
                <a:cs typeface="Dynapuff SemiCondensed"/>
                <a:sym typeface="Dynapuff SemiCondensed"/>
              </a:rPr>
              <a:t>It promotes unity, togetherness, and strong community bonds.</a:t>
            </a:r>
          </a:p>
          <a:p>
            <a:pPr algn="just" marL="647700" indent="-323850" lvl="1">
              <a:lnSpc>
                <a:spcPts val="4200"/>
              </a:lnSpc>
              <a:buFont typeface="Arial"/>
              <a:buChar char="•"/>
            </a:pPr>
            <a:r>
              <a:rPr lang="en-US" sz="3000">
                <a:solidFill>
                  <a:srgbClr val="000000"/>
                </a:solidFill>
                <a:latin typeface="Dynapuff SemiCondensed"/>
                <a:ea typeface="Dynapuff SemiCondensed"/>
                <a:cs typeface="Dynapuff SemiCondensed"/>
                <a:sym typeface="Dynapuff SemiCondensed"/>
              </a:rPr>
              <a:t>The speaker helps others selflessly and values honesty and strong relationships.</a:t>
            </a:r>
          </a:p>
          <a:p>
            <a:pPr algn="just" marL="647700" indent="-323850" lvl="1">
              <a:lnSpc>
                <a:spcPts val="4200"/>
              </a:lnSpc>
              <a:buFont typeface="Arial"/>
              <a:buChar char="•"/>
            </a:pPr>
            <a:r>
              <a:rPr lang="en-US" sz="3000">
                <a:solidFill>
                  <a:srgbClr val="000000"/>
                </a:solidFill>
                <a:latin typeface="Dynapuff SemiCondensed"/>
                <a:ea typeface="Dynapuff SemiCondensed"/>
                <a:cs typeface="Dynapuff SemiCondensed"/>
                <a:sym typeface="Dynapuff SemiCondensed"/>
              </a:rPr>
              <a:t>Their village strongly practiced Ubuntu, with visible kindness and shared values.</a:t>
            </a:r>
          </a:p>
          <a:p>
            <a:pPr algn="just" marL="647700" indent="-323850" lvl="1">
              <a:lnSpc>
                <a:spcPts val="4200"/>
              </a:lnSpc>
              <a:buFont typeface="Arial"/>
              <a:buChar char="•"/>
            </a:pPr>
            <a:r>
              <a:rPr lang="en-US" sz="3000">
                <a:solidFill>
                  <a:srgbClr val="000000"/>
                </a:solidFill>
                <a:latin typeface="Dynapuff SemiCondensed"/>
                <a:ea typeface="Dynapuff SemiCondensed"/>
                <a:cs typeface="Dynapuff SemiCondensed"/>
                <a:sym typeface="Dynapuff SemiCondensed"/>
              </a:rPr>
              <a:t>There is a lack of connection and family spirit, showing the need for more Ubuntu.</a:t>
            </a:r>
          </a:p>
        </p:txBody>
      </p:sp>
      <p:sp>
        <p:nvSpPr>
          <p:cNvPr name="TextBox 4" id="4"/>
          <p:cNvSpPr txBox="true"/>
          <p:nvPr/>
        </p:nvSpPr>
        <p:spPr>
          <a:xfrm rot="0">
            <a:off x="5468828" y="2437405"/>
            <a:ext cx="7350343" cy="1000125"/>
          </a:xfrm>
          <a:prstGeom prst="rect">
            <a:avLst/>
          </a:prstGeom>
        </p:spPr>
        <p:txBody>
          <a:bodyPr anchor="t" rtlCol="false" tIns="0" lIns="0" bIns="0" rIns="0">
            <a:spAutoFit/>
          </a:bodyPr>
          <a:lstStyle/>
          <a:p>
            <a:pPr algn="ctr" marL="0" indent="0" lvl="0">
              <a:lnSpc>
                <a:spcPts val="7800"/>
              </a:lnSpc>
              <a:spcBef>
                <a:spcPct val="0"/>
              </a:spcBef>
            </a:pPr>
            <a:r>
              <a:rPr lang="en-US" sz="6500">
                <a:solidFill>
                  <a:srgbClr val="000000"/>
                </a:solidFill>
                <a:latin typeface="Dynapuff Condensed"/>
                <a:ea typeface="Dynapuff Condensed"/>
                <a:cs typeface="Dynapuff Condensed"/>
                <a:sym typeface="Dynapuff Condensed"/>
              </a:rPr>
              <a:t>SUMMARY</a:t>
            </a:r>
          </a:p>
        </p:txBody>
      </p:sp>
      <p:sp>
        <p:nvSpPr>
          <p:cNvPr name="Freeform 5" id="5"/>
          <p:cNvSpPr/>
          <p:nvPr/>
        </p:nvSpPr>
        <p:spPr>
          <a:xfrm flipH="true" flipV="true" rot="0">
            <a:off x="12337292" y="-8763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495287" y="-876300"/>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1917738" y="547067"/>
            <a:ext cx="14418661" cy="9001164"/>
          </a:xfrm>
          <a:custGeom>
            <a:avLst/>
            <a:gdLst/>
            <a:ahLst/>
            <a:cxnLst/>
            <a:rect r="r" b="b" t="t" l="l"/>
            <a:pathLst>
              <a:path h="9001164" w="14418661">
                <a:moveTo>
                  <a:pt x="0" y="0"/>
                </a:moveTo>
                <a:lnTo>
                  <a:pt x="14418661" y="0"/>
                </a:lnTo>
                <a:lnTo>
                  <a:pt x="14418661" y="9001164"/>
                </a:lnTo>
                <a:lnTo>
                  <a:pt x="0" y="90011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95287" y="-876300"/>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0">
            <a:off x="12337292" y="-8763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451897" y="1820956"/>
            <a:ext cx="7350343" cy="1000125"/>
          </a:xfrm>
          <a:prstGeom prst="rect">
            <a:avLst/>
          </a:prstGeom>
        </p:spPr>
        <p:txBody>
          <a:bodyPr anchor="t" rtlCol="false" tIns="0" lIns="0" bIns="0" rIns="0">
            <a:spAutoFit/>
          </a:bodyPr>
          <a:lstStyle/>
          <a:p>
            <a:pPr algn="ctr" marL="0" indent="0" lvl="0">
              <a:lnSpc>
                <a:spcPts val="7800"/>
              </a:lnSpc>
              <a:spcBef>
                <a:spcPct val="0"/>
              </a:spcBef>
            </a:pPr>
            <a:r>
              <a:rPr lang="en-US" sz="6500">
                <a:solidFill>
                  <a:srgbClr val="000000"/>
                </a:solidFill>
                <a:latin typeface="Dynapuff Condensed"/>
                <a:ea typeface="Dynapuff Condensed"/>
                <a:cs typeface="Dynapuff Condensed"/>
                <a:sym typeface="Dynapuff Condensed"/>
              </a:rPr>
              <a:t>AREAS NEEDING FOCUS</a:t>
            </a:r>
          </a:p>
        </p:txBody>
      </p:sp>
      <p:sp>
        <p:nvSpPr>
          <p:cNvPr name="TextBox 8" id="8"/>
          <p:cNvSpPr txBox="true"/>
          <p:nvPr/>
        </p:nvSpPr>
        <p:spPr>
          <a:xfrm rot="0">
            <a:off x="2556462" y="2750734"/>
            <a:ext cx="12832384" cy="5664200"/>
          </a:xfrm>
          <a:prstGeom prst="rect">
            <a:avLst/>
          </a:prstGeom>
        </p:spPr>
        <p:txBody>
          <a:bodyPr anchor="t" rtlCol="false" tIns="0" lIns="0" bIns="0" rIns="0">
            <a:spAutoFit/>
          </a:bodyPr>
          <a:lstStyle/>
          <a:p>
            <a:pPr algn="just" marL="863595" indent="-431797" lvl="1">
              <a:lnSpc>
                <a:spcPts val="5599"/>
              </a:lnSpc>
              <a:buFont typeface="Arial"/>
              <a:buChar char="•"/>
            </a:pPr>
            <a:r>
              <a:rPr lang="en-US" sz="3999">
                <a:solidFill>
                  <a:srgbClr val="000000"/>
                </a:solidFill>
                <a:latin typeface="Dynapuff SemiCondensed"/>
                <a:ea typeface="Dynapuff SemiCondensed"/>
                <a:cs typeface="Dynapuff SemiCondensed"/>
                <a:sym typeface="Dynapuff SemiCondensed"/>
              </a:rPr>
              <a:t>Support among the youth</a:t>
            </a:r>
          </a:p>
          <a:p>
            <a:pPr algn="just">
              <a:lnSpc>
                <a:spcPts val="4200"/>
              </a:lnSpc>
            </a:pPr>
            <a:r>
              <a:rPr lang="en-US" sz="3000">
                <a:solidFill>
                  <a:srgbClr val="000000"/>
                </a:solidFill>
                <a:latin typeface="Dynapuff SemiCondensed"/>
                <a:ea typeface="Dynapuff SemiCondensed"/>
                <a:cs typeface="Dynapuff SemiCondensed"/>
                <a:sym typeface="Dynapuff SemiCondensed"/>
              </a:rPr>
              <a:t>I often see people my age walking around the streets and engaging in activities that are not suitable for them but could be solved if they had the necessary support and other ways of bonding by incorporating the principles of ubuntu in their lives</a:t>
            </a:r>
          </a:p>
          <a:p>
            <a:pPr algn="just">
              <a:lnSpc>
                <a:spcPts val="4200"/>
              </a:lnSpc>
            </a:pPr>
          </a:p>
          <a:p>
            <a:pPr algn="just" marL="863595" indent="-431797" lvl="1">
              <a:lnSpc>
                <a:spcPts val="5599"/>
              </a:lnSpc>
              <a:buFont typeface="Arial"/>
              <a:buChar char="•"/>
            </a:pPr>
            <a:r>
              <a:rPr lang="en-US" sz="3999">
                <a:solidFill>
                  <a:srgbClr val="000000"/>
                </a:solidFill>
                <a:latin typeface="Dynapuff SemiCondensed"/>
                <a:ea typeface="Dynapuff SemiCondensed"/>
                <a:cs typeface="Dynapuff SemiCondensed"/>
                <a:sym typeface="Dynapuff SemiCondensed"/>
              </a:rPr>
              <a:t>Discrimination of immigrants</a:t>
            </a:r>
          </a:p>
          <a:p>
            <a:pPr algn="just">
              <a:lnSpc>
                <a:spcPts val="4200"/>
              </a:lnSpc>
            </a:pPr>
            <a:r>
              <a:rPr lang="en-US" sz="3000">
                <a:solidFill>
                  <a:srgbClr val="000000"/>
                </a:solidFill>
                <a:latin typeface="Dynapuff SemiCondensed"/>
                <a:ea typeface="Dynapuff SemiCondensed"/>
                <a:cs typeface="Dynapuff SemiCondensed"/>
                <a:sym typeface="Dynapuff SemiCondensed"/>
              </a:rPr>
              <a:t>As the number of Ethiopian people move into the neighborhood the distain towards them increases I think that this goes against the principles of ubuntu that we show each other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1358659" y="198050"/>
            <a:ext cx="14977740" cy="9350181"/>
          </a:xfrm>
          <a:custGeom>
            <a:avLst/>
            <a:gdLst/>
            <a:ahLst/>
            <a:cxnLst/>
            <a:rect r="r" b="b" t="t" l="l"/>
            <a:pathLst>
              <a:path h="9350181" w="14977740">
                <a:moveTo>
                  <a:pt x="0" y="0"/>
                </a:moveTo>
                <a:lnTo>
                  <a:pt x="14977740" y="0"/>
                </a:lnTo>
                <a:lnTo>
                  <a:pt x="14977740" y="9350181"/>
                </a:lnTo>
                <a:lnTo>
                  <a:pt x="0" y="9350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95287" y="-876300"/>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451897" y="1820956"/>
            <a:ext cx="7350343" cy="1000125"/>
          </a:xfrm>
          <a:prstGeom prst="rect">
            <a:avLst/>
          </a:prstGeom>
        </p:spPr>
        <p:txBody>
          <a:bodyPr anchor="t" rtlCol="false" tIns="0" lIns="0" bIns="0" rIns="0">
            <a:spAutoFit/>
          </a:bodyPr>
          <a:lstStyle/>
          <a:p>
            <a:pPr algn="ctr" marL="0" indent="0" lvl="0">
              <a:lnSpc>
                <a:spcPts val="7800"/>
              </a:lnSpc>
              <a:spcBef>
                <a:spcPct val="0"/>
              </a:spcBef>
            </a:pPr>
            <a:r>
              <a:rPr lang="en-US" sz="6500">
                <a:solidFill>
                  <a:srgbClr val="000000"/>
                </a:solidFill>
                <a:latin typeface="Dynapuff Condensed"/>
                <a:ea typeface="Dynapuff Condensed"/>
                <a:cs typeface="Dynapuff Condensed"/>
                <a:sym typeface="Dynapuff Condensed"/>
              </a:rPr>
              <a:t>WHY WE NEED CHANGE </a:t>
            </a:r>
          </a:p>
        </p:txBody>
      </p:sp>
      <p:sp>
        <p:nvSpPr>
          <p:cNvPr name="TextBox 7" id="7"/>
          <p:cNvSpPr txBox="true"/>
          <p:nvPr/>
        </p:nvSpPr>
        <p:spPr>
          <a:xfrm rot="0">
            <a:off x="2556462" y="4050896"/>
            <a:ext cx="12832384" cy="3073400"/>
          </a:xfrm>
          <a:prstGeom prst="rect">
            <a:avLst/>
          </a:prstGeom>
        </p:spPr>
        <p:txBody>
          <a:bodyPr anchor="t" rtlCol="false" tIns="0" lIns="0" bIns="0" rIns="0">
            <a:spAutoFit/>
          </a:bodyPr>
          <a:lstStyle/>
          <a:p>
            <a:pPr algn="just">
              <a:lnSpc>
                <a:spcPts val="4899"/>
              </a:lnSpc>
            </a:pPr>
            <a:r>
              <a:rPr lang="en-US" sz="3499">
                <a:solidFill>
                  <a:srgbClr val="000000"/>
                </a:solidFill>
                <a:latin typeface="Dynapuff SemiCondensed"/>
                <a:ea typeface="Dynapuff SemiCondensed"/>
                <a:cs typeface="Dynapuff SemiCondensed"/>
                <a:sym typeface="Dynapuff SemiCondensed"/>
              </a:rPr>
              <a:t>To instill the principles of ubuntu within the youth we need to teach them and provide them with a way to practice them</a:t>
            </a:r>
          </a:p>
          <a:p>
            <a:pPr algn="just">
              <a:lnSpc>
                <a:spcPts val="4899"/>
              </a:lnSpc>
            </a:pPr>
          </a:p>
          <a:p>
            <a:pPr algn="just">
              <a:lnSpc>
                <a:spcPts val="4899"/>
              </a:lnSpc>
            </a:pPr>
            <a:r>
              <a:rPr lang="en-US" sz="3499">
                <a:solidFill>
                  <a:srgbClr val="000000"/>
                </a:solidFill>
                <a:latin typeface="Dynapuff SemiCondensed"/>
                <a:ea typeface="Dynapuff SemiCondensed"/>
                <a:cs typeface="Dynapuff SemiCondensed"/>
                <a:sym typeface="Dynapuff SemiCondensed"/>
              </a:rPr>
              <a:t>Instilling the principles of ubuntu in the youth would ensure that ubuntu is continued in the younger generation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1358659" y="198050"/>
            <a:ext cx="14977740" cy="9350181"/>
          </a:xfrm>
          <a:custGeom>
            <a:avLst/>
            <a:gdLst/>
            <a:ahLst/>
            <a:cxnLst/>
            <a:rect r="r" b="b" t="t" l="l"/>
            <a:pathLst>
              <a:path h="9350181" w="14977740">
                <a:moveTo>
                  <a:pt x="0" y="0"/>
                </a:moveTo>
                <a:lnTo>
                  <a:pt x="14977740" y="0"/>
                </a:lnTo>
                <a:lnTo>
                  <a:pt x="14977740" y="9350181"/>
                </a:lnTo>
                <a:lnTo>
                  <a:pt x="0" y="9350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95287" y="-876300"/>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451897" y="1820956"/>
            <a:ext cx="7350343" cy="1000125"/>
          </a:xfrm>
          <a:prstGeom prst="rect">
            <a:avLst/>
          </a:prstGeom>
        </p:spPr>
        <p:txBody>
          <a:bodyPr anchor="t" rtlCol="false" tIns="0" lIns="0" bIns="0" rIns="0">
            <a:spAutoFit/>
          </a:bodyPr>
          <a:lstStyle/>
          <a:p>
            <a:pPr algn="ctr" marL="0" indent="0" lvl="0">
              <a:lnSpc>
                <a:spcPts val="7800"/>
              </a:lnSpc>
              <a:spcBef>
                <a:spcPct val="0"/>
              </a:spcBef>
            </a:pPr>
            <a:r>
              <a:rPr lang="en-US" sz="6500">
                <a:solidFill>
                  <a:srgbClr val="000000"/>
                </a:solidFill>
                <a:latin typeface="Dynapuff Condensed"/>
                <a:ea typeface="Dynapuff Condensed"/>
                <a:cs typeface="Dynapuff Condensed"/>
                <a:sym typeface="Dynapuff Condensed"/>
              </a:rPr>
              <a:t>WHY WE NEED CHANGE </a:t>
            </a:r>
          </a:p>
        </p:txBody>
      </p:sp>
      <p:sp>
        <p:nvSpPr>
          <p:cNvPr name="TextBox 7" id="7"/>
          <p:cNvSpPr txBox="true"/>
          <p:nvPr/>
        </p:nvSpPr>
        <p:spPr>
          <a:xfrm rot="0">
            <a:off x="2556462" y="4360459"/>
            <a:ext cx="12832384" cy="2454275"/>
          </a:xfrm>
          <a:prstGeom prst="rect">
            <a:avLst/>
          </a:prstGeom>
        </p:spPr>
        <p:txBody>
          <a:bodyPr anchor="t" rtlCol="false" tIns="0" lIns="0" bIns="0" rIns="0">
            <a:spAutoFit/>
          </a:bodyPr>
          <a:lstStyle/>
          <a:p>
            <a:pPr algn="just">
              <a:lnSpc>
                <a:spcPts val="4899"/>
              </a:lnSpc>
            </a:pPr>
            <a:r>
              <a:rPr lang="en-US" sz="3499">
                <a:solidFill>
                  <a:srgbClr val="000000"/>
                </a:solidFill>
                <a:latin typeface="Dynapuff SemiCondensed"/>
                <a:ea typeface="Dynapuff SemiCondensed"/>
                <a:cs typeface="Dynapuff SemiCondensed"/>
                <a:sym typeface="Dynapuff SemiCondensed"/>
              </a:rPr>
              <a:t>To help in discovering the meaning of ubuntu within the community more interactions among people in the neibourhood are needed to resolve any misunderstandings and rebuild the sense of family bonds in the community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88210"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4132118" y="1945277"/>
            <a:ext cx="10275104" cy="1466132"/>
          </a:xfrm>
          <a:prstGeom prst="rect">
            <a:avLst/>
          </a:prstGeom>
        </p:spPr>
        <p:txBody>
          <a:bodyPr anchor="t" rtlCol="false" tIns="0" lIns="0" bIns="0" rIns="0">
            <a:spAutoFit/>
          </a:bodyPr>
          <a:lstStyle/>
          <a:p>
            <a:pPr algn="ctr">
              <a:lnSpc>
                <a:spcPts val="5521"/>
              </a:lnSpc>
            </a:pPr>
            <a:r>
              <a:rPr lang="en-US" sz="6346" spc="63">
                <a:solidFill>
                  <a:srgbClr val="000000"/>
                </a:solidFill>
                <a:latin typeface="Dynapuff Condensed"/>
                <a:ea typeface="Dynapuff Condensed"/>
                <a:cs typeface="Dynapuff Condensed"/>
                <a:sym typeface="Dynapuff Condensed"/>
              </a:rPr>
              <a:t>UBU</a:t>
            </a:r>
            <a:r>
              <a:rPr lang="en-US" sz="6346" spc="63">
                <a:solidFill>
                  <a:srgbClr val="000000"/>
                </a:solidFill>
                <a:latin typeface="Dynapuff Condensed"/>
                <a:ea typeface="Dynapuff Condensed"/>
                <a:cs typeface="Dynapuff Condensed"/>
                <a:sym typeface="Dynapuff Condensed"/>
              </a:rPr>
              <a:t>NTU PRINCIPLES TO IMPLEMENT</a:t>
            </a:r>
          </a:p>
        </p:txBody>
      </p:sp>
      <p:sp>
        <p:nvSpPr>
          <p:cNvPr name="TextBox 6" id="6"/>
          <p:cNvSpPr txBox="true"/>
          <p:nvPr/>
        </p:nvSpPr>
        <p:spPr>
          <a:xfrm rot="0">
            <a:off x="2556462" y="3741334"/>
            <a:ext cx="12832384" cy="3692525"/>
          </a:xfrm>
          <a:prstGeom prst="rect">
            <a:avLst/>
          </a:prstGeom>
        </p:spPr>
        <p:txBody>
          <a:bodyPr anchor="t" rtlCol="false" tIns="0" lIns="0" bIns="0" rIns="0">
            <a:spAutoFit/>
          </a:bodyPr>
          <a:lstStyle/>
          <a:p>
            <a:pPr algn="just" marL="755647" indent="-377824" lvl="1">
              <a:lnSpc>
                <a:spcPts val="4899"/>
              </a:lnSpc>
              <a:buAutoNum type="arabicPeriod" startAt="1"/>
            </a:pPr>
            <a:r>
              <a:rPr lang="en-US" sz="3499">
                <a:solidFill>
                  <a:srgbClr val="000000"/>
                </a:solidFill>
                <a:latin typeface="Dynapuff SemiCondensed"/>
                <a:ea typeface="Dynapuff SemiCondensed"/>
                <a:cs typeface="Dynapuff SemiCondensed"/>
                <a:sym typeface="Dynapuff SemiCondensed"/>
              </a:rPr>
              <a:t> Respect and treating people of all races and ethnic groups   with respect and dignity</a:t>
            </a:r>
          </a:p>
          <a:p>
            <a:pPr algn="just" marL="755647" indent="-377824" lvl="1">
              <a:lnSpc>
                <a:spcPts val="4899"/>
              </a:lnSpc>
              <a:buAutoNum type="arabicPeriod" startAt="1"/>
            </a:pPr>
            <a:r>
              <a:rPr lang="en-US" sz="3499">
                <a:solidFill>
                  <a:srgbClr val="000000"/>
                </a:solidFill>
                <a:latin typeface="Dynapuff SemiCondensed"/>
                <a:ea typeface="Dynapuff SemiCondensed"/>
                <a:cs typeface="Dynapuff SemiCondensed"/>
                <a:sym typeface="Dynapuff SemiCondensed"/>
              </a:rPr>
              <a:t>Sharing resources with those that are less fortunate in                                               our neighborhood</a:t>
            </a:r>
          </a:p>
          <a:p>
            <a:pPr algn="just" marL="755647" indent="-377824" lvl="1">
              <a:lnSpc>
                <a:spcPts val="4899"/>
              </a:lnSpc>
              <a:buAutoNum type="arabicPeriod" startAt="1"/>
            </a:pPr>
            <a:r>
              <a:rPr lang="en-US" sz="3499">
                <a:solidFill>
                  <a:srgbClr val="000000"/>
                </a:solidFill>
                <a:latin typeface="Dynapuff SemiCondensed"/>
                <a:ea typeface="Dynapuff SemiCondensed"/>
                <a:cs typeface="Dynapuff SemiCondensed"/>
                <a:sym typeface="Dynapuff SemiCondensed"/>
              </a:rPr>
              <a:t>Making use of the nearby park to promote healthy relationships among the youth and the older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88210"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4924696" y="2467693"/>
            <a:ext cx="8438608" cy="770807"/>
          </a:xfrm>
          <a:prstGeom prst="rect">
            <a:avLst/>
          </a:prstGeom>
        </p:spPr>
        <p:txBody>
          <a:bodyPr anchor="t" rtlCol="false" tIns="0" lIns="0" bIns="0" rIns="0">
            <a:spAutoFit/>
          </a:bodyPr>
          <a:lstStyle/>
          <a:p>
            <a:pPr algn="ctr">
              <a:lnSpc>
                <a:spcPts val="5521"/>
              </a:lnSpc>
            </a:pPr>
            <a:r>
              <a:rPr lang="en-US" sz="6346" spc="63">
                <a:solidFill>
                  <a:srgbClr val="000000"/>
                </a:solidFill>
                <a:latin typeface="Dynapuff Condensed"/>
                <a:ea typeface="Dynapuff Condensed"/>
                <a:cs typeface="Dynapuff Condensed"/>
                <a:sym typeface="Dynapuff Condensed"/>
              </a:rPr>
              <a:t>LIVI</a:t>
            </a:r>
            <a:r>
              <a:rPr lang="en-US" sz="6346" spc="63">
                <a:solidFill>
                  <a:srgbClr val="000000"/>
                </a:solidFill>
                <a:latin typeface="Dynapuff Condensed"/>
                <a:ea typeface="Dynapuff Condensed"/>
                <a:cs typeface="Dynapuff Condensed"/>
                <a:sym typeface="Dynapuff Condensed"/>
              </a:rPr>
              <a:t>NG IN UBUNTU</a:t>
            </a:r>
          </a:p>
        </p:txBody>
      </p:sp>
      <p:sp>
        <p:nvSpPr>
          <p:cNvPr name="TextBox 6" id="6"/>
          <p:cNvSpPr txBox="true"/>
          <p:nvPr/>
        </p:nvSpPr>
        <p:spPr>
          <a:xfrm rot="0">
            <a:off x="3054899" y="3171825"/>
            <a:ext cx="12178202" cy="4930776"/>
          </a:xfrm>
          <a:prstGeom prst="rect">
            <a:avLst/>
          </a:prstGeom>
        </p:spPr>
        <p:txBody>
          <a:bodyPr anchor="t" rtlCol="false" tIns="0" lIns="0" bIns="0" rIns="0">
            <a:spAutoFit/>
          </a:bodyPr>
          <a:lstStyle/>
          <a:p>
            <a:pPr algn="just" marL="755646" indent="-377823" lvl="1">
              <a:lnSpc>
                <a:spcPts val="4899"/>
              </a:lnSpc>
              <a:buFont typeface="Arial"/>
              <a:buChar char="•"/>
            </a:pPr>
            <a:r>
              <a:rPr lang="en-US" sz="3499">
                <a:solidFill>
                  <a:srgbClr val="000000"/>
                </a:solidFill>
                <a:latin typeface="Dynapuff Condensed"/>
                <a:ea typeface="Dynapuff Condensed"/>
                <a:cs typeface="Dynapuff Condensed"/>
                <a:sym typeface="Dynapuff Condensed"/>
              </a:rPr>
              <a:t>I will give whatever I do not need to those that I find in need of it</a:t>
            </a:r>
          </a:p>
          <a:p>
            <a:pPr algn="just">
              <a:lnSpc>
                <a:spcPts val="4899"/>
              </a:lnSpc>
            </a:pPr>
          </a:p>
          <a:p>
            <a:pPr algn="just" marL="755646" indent="-377823" lvl="1">
              <a:lnSpc>
                <a:spcPts val="4899"/>
              </a:lnSpc>
              <a:buFont typeface="Arial"/>
              <a:buChar char="•"/>
            </a:pPr>
            <a:r>
              <a:rPr lang="en-US" sz="3499">
                <a:solidFill>
                  <a:srgbClr val="000000"/>
                </a:solidFill>
                <a:latin typeface="Dynapuff Condensed"/>
                <a:ea typeface="Dynapuff Condensed"/>
                <a:cs typeface="Dynapuff Condensed"/>
                <a:sym typeface="Dynapuff Condensed"/>
              </a:rPr>
              <a:t>I will show respect to everyone of all age groups and races to promote friendly interactions with each other</a:t>
            </a:r>
          </a:p>
          <a:p>
            <a:pPr algn="just">
              <a:lnSpc>
                <a:spcPts val="4899"/>
              </a:lnSpc>
            </a:pPr>
          </a:p>
          <a:p>
            <a:pPr algn="just" marL="755646" indent="-377823" lvl="1">
              <a:lnSpc>
                <a:spcPts val="4899"/>
              </a:lnSpc>
              <a:buFont typeface="Arial"/>
              <a:buChar char="•"/>
            </a:pPr>
            <a:r>
              <a:rPr lang="en-US" sz="3499">
                <a:solidFill>
                  <a:srgbClr val="000000"/>
                </a:solidFill>
                <a:latin typeface="Dynapuff Condensed"/>
                <a:ea typeface="Dynapuff Condensed"/>
                <a:cs typeface="Dynapuff Condensed"/>
                <a:sym typeface="Dynapuff Condensed"/>
              </a:rPr>
              <a:t>I will do whatever I can to provide any assistance to those in need of it no matter how big or small it is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88210"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4513730" y="1772368"/>
            <a:ext cx="10493439" cy="1466132"/>
          </a:xfrm>
          <a:prstGeom prst="rect">
            <a:avLst/>
          </a:prstGeom>
        </p:spPr>
        <p:txBody>
          <a:bodyPr anchor="t" rtlCol="false" tIns="0" lIns="0" bIns="0" rIns="0">
            <a:spAutoFit/>
          </a:bodyPr>
          <a:lstStyle/>
          <a:p>
            <a:pPr algn="ctr">
              <a:lnSpc>
                <a:spcPts val="5521"/>
              </a:lnSpc>
            </a:pPr>
            <a:r>
              <a:rPr lang="en-US" sz="6346" spc="63">
                <a:solidFill>
                  <a:srgbClr val="000000"/>
                </a:solidFill>
                <a:latin typeface="Dynapuff Condensed"/>
                <a:ea typeface="Dynapuff Condensed"/>
                <a:cs typeface="Dynapuff Condensed"/>
                <a:sym typeface="Dynapuff Condensed"/>
              </a:rPr>
              <a:t>WHAT WOULD THE COMMUNITY LOOKLIKE IN THE FUTURE</a:t>
            </a:r>
          </a:p>
        </p:txBody>
      </p:sp>
      <p:sp>
        <p:nvSpPr>
          <p:cNvPr name="TextBox 6" id="6"/>
          <p:cNvSpPr txBox="true"/>
          <p:nvPr/>
        </p:nvSpPr>
        <p:spPr>
          <a:xfrm rot="0">
            <a:off x="3054899" y="3790950"/>
            <a:ext cx="12178202" cy="3692526"/>
          </a:xfrm>
          <a:prstGeom prst="rect">
            <a:avLst/>
          </a:prstGeom>
        </p:spPr>
        <p:txBody>
          <a:bodyPr anchor="t" rtlCol="false" tIns="0" lIns="0" bIns="0" rIns="0">
            <a:spAutoFit/>
          </a:bodyPr>
          <a:lstStyle/>
          <a:p>
            <a:pPr algn="just" marL="755646" indent="-377823" lvl="1">
              <a:lnSpc>
                <a:spcPts val="4899"/>
              </a:lnSpc>
              <a:buFont typeface="Arial"/>
              <a:buChar char="•"/>
            </a:pPr>
            <a:r>
              <a:rPr lang="en-US" sz="3499">
                <a:solidFill>
                  <a:srgbClr val="000000"/>
                </a:solidFill>
                <a:latin typeface="Dynapuff Condensed"/>
                <a:ea typeface="Dynapuff Condensed"/>
                <a:cs typeface="Dynapuff Condensed"/>
                <a:sym typeface="Dynapuff Condensed"/>
              </a:rPr>
              <a:t>I envision the bonds within the community to be stronger than they ever were before with everyone loving and caring for each other like they are family</a:t>
            </a:r>
          </a:p>
          <a:p>
            <a:pPr algn="just">
              <a:lnSpc>
                <a:spcPts val="4899"/>
              </a:lnSpc>
            </a:pPr>
          </a:p>
          <a:p>
            <a:pPr algn="just" marL="755646" indent="-377823" lvl="1">
              <a:lnSpc>
                <a:spcPts val="4899"/>
              </a:lnSpc>
              <a:buFont typeface="Arial"/>
              <a:buChar char="•"/>
            </a:pPr>
            <a:r>
              <a:rPr lang="en-US" sz="3499">
                <a:solidFill>
                  <a:srgbClr val="000000"/>
                </a:solidFill>
                <a:latin typeface="Dynapuff Condensed"/>
                <a:ea typeface="Dynapuff Condensed"/>
                <a:cs typeface="Dynapuff Condensed"/>
                <a:sym typeface="Dynapuff Condensed"/>
              </a:rPr>
              <a:t>I see that those who are less fortunate than we are would be able to live a better quality of life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88210"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4924696" y="2467693"/>
            <a:ext cx="9084412" cy="770807"/>
          </a:xfrm>
          <a:prstGeom prst="rect">
            <a:avLst/>
          </a:prstGeom>
        </p:spPr>
        <p:txBody>
          <a:bodyPr anchor="t" rtlCol="false" tIns="0" lIns="0" bIns="0" rIns="0">
            <a:spAutoFit/>
          </a:bodyPr>
          <a:lstStyle/>
          <a:p>
            <a:pPr algn="ctr">
              <a:lnSpc>
                <a:spcPts val="5521"/>
              </a:lnSpc>
            </a:pPr>
            <a:r>
              <a:rPr lang="en-US" sz="6346" spc="63">
                <a:solidFill>
                  <a:srgbClr val="000000"/>
                </a:solidFill>
                <a:latin typeface="Dynapuff Condensed"/>
                <a:ea typeface="Dynapuff Condensed"/>
                <a:cs typeface="Dynapuff Condensed"/>
                <a:sym typeface="Dynapuff Condensed"/>
              </a:rPr>
              <a:t>HOW IT WILL E</a:t>
            </a:r>
            <a:r>
              <a:rPr lang="en-US" sz="6346" spc="63">
                <a:solidFill>
                  <a:srgbClr val="000000"/>
                </a:solidFill>
                <a:latin typeface="Dynapuff Condensed"/>
                <a:ea typeface="Dynapuff Condensed"/>
                <a:cs typeface="Dynapuff Condensed"/>
                <a:sym typeface="Dynapuff Condensed"/>
              </a:rPr>
              <a:t>NRICH MY LIFE</a:t>
            </a:r>
          </a:p>
        </p:txBody>
      </p:sp>
      <p:sp>
        <p:nvSpPr>
          <p:cNvPr name="TextBox 6" id="6"/>
          <p:cNvSpPr txBox="true"/>
          <p:nvPr/>
        </p:nvSpPr>
        <p:spPr>
          <a:xfrm rot="0">
            <a:off x="3377801" y="3708399"/>
            <a:ext cx="12178202" cy="4930776"/>
          </a:xfrm>
          <a:prstGeom prst="rect">
            <a:avLst/>
          </a:prstGeom>
        </p:spPr>
        <p:txBody>
          <a:bodyPr anchor="t" rtlCol="false" tIns="0" lIns="0" bIns="0" rIns="0">
            <a:spAutoFit/>
          </a:bodyPr>
          <a:lstStyle/>
          <a:p>
            <a:pPr algn="just" marL="755646" indent="-377823" lvl="1">
              <a:lnSpc>
                <a:spcPts val="4899"/>
              </a:lnSpc>
              <a:buFont typeface="Arial"/>
              <a:buChar char="•"/>
            </a:pPr>
            <a:r>
              <a:rPr lang="en-US" sz="3499">
                <a:solidFill>
                  <a:srgbClr val="000000"/>
                </a:solidFill>
                <a:latin typeface="Dynapuff Condensed"/>
                <a:ea typeface="Dynapuff Condensed"/>
                <a:cs typeface="Dynapuff Condensed"/>
                <a:sym typeface="Dynapuff Condensed"/>
              </a:rPr>
              <a:t>By spreading the principles of ubuntu in my community I aim for members of the community to reduce racial discrimination or ethnic conflicts so we can grow together and become better people</a:t>
            </a:r>
          </a:p>
          <a:p>
            <a:pPr algn="just">
              <a:lnSpc>
                <a:spcPts val="4899"/>
              </a:lnSpc>
            </a:pPr>
          </a:p>
          <a:p>
            <a:pPr algn="just" marL="755646" indent="-377823" lvl="1">
              <a:lnSpc>
                <a:spcPts val="4899"/>
              </a:lnSpc>
              <a:buFont typeface="Arial"/>
              <a:buChar char="•"/>
            </a:pPr>
            <a:r>
              <a:rPr lang="en-US" sz="3499">
                <a:solidFill>
                  <a:srgbClr val="000000"/>
                </a:solidFill>
                <a:latin typeface="Dynapuff Condensed"/>
                <a:ea typeface="Dynapuff Condensed"/>
                <a:cs typeface="Dynapuff Condensed"/>
                <a:sym typeface="Dynapuff Condensed"/>
              </a:rPr>
              <a:t>This would encourage everyone to work for things like improving the safety of the neighborhood and making it a cleaner  place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33743"/>
            <a:ext cx="16230600" cy="9819513"/>
          </a:xfrm>
          <a:custGeom>
            <a:avLst/>
            <a:gdLst/>
            <a:ahLst/>
            <a:cxnLst/>
            <a:rect r="r" b="b" t="t" l="l"/>
            <a:pathLst>
              <a:path h="9819513" w="16230600">
                <a:moveTo>
                  <a:pt x="0" y="0"/>
                </a:moveTo>
                <a:lnTo>
                  <a:pt x="16230600" y="0"/>
                </a:lnTo>
                <a:lnTo>
                  <a:pt x="16230600" y="9819513"/>
                </a:lnTo>
                <a:lnTo>
                  <a:pt x="0" y="9819513"/>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DAG3YccbVw0</dc:identifier>
  <dcterms:modified xsi:type="dcterms:W3CDTF">2011-08-01T06:04:30Z</dcterms:modified>
  <cp:revision>1</cp:revision>
  <dc:title>Project</dc:title>
</cp:coreProperties>
</file>